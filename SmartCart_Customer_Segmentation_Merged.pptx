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Cambria"/>
              </a:rPr>
              <a:t>Cumulative Variance vs. Components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 Explained (%)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23.2</c:v>
                </c:pt>
                <c:pt idx="1">
                  <c:v>34.5</c:v>
                </c:pt>
                <c:pt idx="2">
                  <c:v>45</c:v>
                </c:pt>
                <c:pt idx="3">
                  <c:v>54.9</c:v>
                </c:pt>
                <c:pt idx="4">
                  <c:v>62.6</c:v>
                </c:pt>
                <c:pt idx="5">
                  <c:v>69.099999999999994</c:v>
                </c:pt>
                <c:pt idx="6">
                  <c:v>74.599999999999994</c:v>
                </c:pt>
                <c:pt idx="7">
                  <c:v>80</c:v>
                </c:pt>
                <c:pt idx="8">
                  <c:v>84.5</c:v>
                </c:pt>
                <c:pt idx="9">
                  <c:v>88.4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D9-4030-A3FF-5ED2AA450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Components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Cumulative Variance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WCSS</c:v>
                </c:pt>
              </c:strCache>
            </c:strRef>
          </c:tx>
          <c:spPr>
            <a:ln w="38100" cap="flat">
              <a:solidFill>
                <a:srgbClr val="B869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695A"/>
              </a:solidFill>
              <a:ln w="9525" cap="flat">
                <a:solidFill>
                  <a:srgbClr val="B8695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18093.3</c:v>
                </c:pt>
                <c:pt idx="1">
                  <c:v>10760.7</c:v>
                </c:pt>
                <c:pt idx="2">
                  <c:v>8209.7000000000007</c:v>
                </c:pt>
                <c:pt idx="3">
                  <c:v>6315.2</c:v>
                </c:pt>
                <c:pt idx="4">
                  <c:v>5004.3</c:v>
                </c:pt>
                <c:pt idx="5">
                  <c:v>4320</c:v>
                </c:pt>
                <c:pt idx="6">
                  <c:v>3665.9</c:v>
                </c:pt>
                <c:pt idx="7">
                  <c:v>3207.1</c:v>
                </c:pt>
                <c:pt idx="8">
                  <c:v>2824.1</c:v>
                </c:pt>
                <c:pt idx="9">
                  <c:v>2486.1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56-4AAA-BDE6-EFA1BA6B42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k (number of clusters)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WCSS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27-4FC4-A611-BF1CADF7106D}"/>
              </c:ext>
            </c:extLst>
          </c:dPt>
          <c:dPt>
            <c:idx val="1"/>
            <c:invertIfNegative val="0"/>
            <c:bubble3D val="0"/>
            <c:spPr>
              <a:solidFill>
                <a:srgbClr val="B869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27-4FC4-A611-BF1CADF7106D}"/>
              </c:ext>
            </c:extLst>
          </c:dPt>
          <c:dPt>
            <c:idx val="2"/>
            <c:invertIfNegative val="0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27-4FC4-A611-BF1CADF7106D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27-4FC4-A611-BF1CADF7106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Value Family</c:v>
                </c:pt>
                <c:pt idx="1">
                  <c:v>Budget Parents</c:v>
                </c:pt>
                <c:pt idx="2">
                  <c:v>Affluent Couples</c:v>
                </c:pt>
                <c:pt idx="3">
                  <c:v>Premium Independent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14.2</c:v>
                </c:pt>
                <c:pt idx="2">
                  <c:v>16.7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27-4FC4-A611-BF1CADF71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Response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7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502920" cy="502920"/>
          </a:xfrm>
          <a:prstGeom prst="ellipse">
            <a:avLst/>
          </a:prstGeom>
          <a:solidFill>
            <a:srgbClr val="8291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9784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18704" y="1709928"/>
            <a:ext cx="365760" cy="365760"/>
          </a:xfrm>
          <a:prstGeom prst="ellipse">
            <a:avLst/>
          </a:prstGeom>
          <a:solidFill>
            <a:srgbClr val="B86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32520" y="402336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SmartCart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8E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purchase behavior into actionable customer personas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29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+  AGGLOMERATIVE CLUSTERING   ·   PCA   ·   2,240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is one of the most valuable assets an e-commerce business has. Treating every customer the same way leads to inefficient marketing and lower engagement — unsupervised machine learning instead uncovers natural groupings in how people shop, spend, and engage.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segmentation system: from raw transactional data, to validated clusters, to business-ready customer personas — benchmarking multiple algorithms rather than committing to just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508760"/>
            <a:ext cx="420624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0" y="1618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809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2971800"/>
            <a:ext cx="420624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0" y="3081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80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4434840"/>
            <a:ext cx="420624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45445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68096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purchasing behavior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differ in spend, channel, and frequency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hidden segments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natural groupings without pre-labeled categories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423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clustering algorithms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K-Means against Agglomerative clustering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with quantitative rigor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532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Davies-Bouldin, Calinski-Harabasz, ARI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11480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26280" y="4983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business personas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5532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clusters into names a marketer can act 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4114800"/>
            <a:ext cx="3520440" cy="22860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7532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753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75320" y="4983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marketing actions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5532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persona with a concrete next step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customers  ·  22 raw features  ·  2,236 retained after outlier removal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7373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education, and household composition (kids, partner status)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120640" cy="17373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Behavior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across 6 product categories — wine, fruit, meat, fish, sweets, gold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Channels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catalog, and store purchases, plus deal-driven purchases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931920"/>
            <a:ext cx="5120640" cy="17373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Campaigns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663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visits, days since last purchase, campaign responses, complaints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38100">
            <a:solidFill>
              <a:srgbClr val="D8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98064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9806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66544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64608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33088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31152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31152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97696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9769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064240" y="26517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642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71600" y="51206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validated output from the last — dimensionality reduction and cluster count were chosen with evidence, not defaults.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 compresses 18 scaled features into a visualizable space.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194560"/>
            <a:ext cx="4297680" cy="17373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2331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3524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 using just 3 components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60920" y="416052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 keep the clusters visualizable in 3D for stakeholders. Later slides check this trade-off directly against clustering on the full feature space.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Number of Clusters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(WCSS) on the 3D PCA space, k = 1–10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194560"/>
            <a:ext cx="4297680" cy="14630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6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3524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via KneeLocator (convex, decreasing)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60920" y="38862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scores across k = 2–10 stay in the 0.37–0.41 range with no sharper peak, so the elbow's k = 4 is used going forward and confirmed independently in the next steps.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Cluster Count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Ward-linkage dendrogram for Agglomerative Clustering</a:t>
            </a:r>
            <a:endParaRPr lang="en-US" sz="1300" dirty="0"/>
          </a:p>
        </p:txBody>
      </p:sp>
      <p:pic>
        <p:nvPicPr>
          <p:cNvPr id="4" name="Image 0" descr="/home/claude/build/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667512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874520"/>
            <a:ext cx="4160520" cy="42519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6060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picked k = 4 for K-Means. Agglomerative clustering deserves its own evidence — a dendrogram lets us read the cluster count directly from the merge structure, independent of K-Means entirely.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0" y="44805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cut confirms 4 is a natural break — the same count the elbow method suggested, reached independently.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evaluated on the same 3D PCA space, k = 4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492240" cy="19202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Agglomerative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 (higher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(lower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(higher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6492240" cy="10515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Index: 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0.8687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two models agree on ~87% of customer assignments.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60920" y="1920240"/>
            <a:ext cx="4297680" cy="4206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3524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35240" y="26060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scores marginally higher on all three metrics. We still use Agglomerative for the segmentation ahead: the gap is modest, the dendrogram gives a deterministic, stakeholder-explainable reason for k = 4, and it doesn't depend on centroid initialization.</a:t>
            </a:r>
            <a:endParaRPr lang="en-US" sz="1250" dirty="0"/>
          </a:p>
        </p:txBody>
      </p:sp>
      <p:sp>
        <p:nvSpPr>
          <p:cNvPr id="4" name="Text 7"/>
          <p:cNvSpPr/>
          <p:nvPr/>
        </p:nvSpPr>
        <p:spPr>
          <a:xfrm>
            <a:off x="7635240" y="5029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29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squeezing out the last bit of separation mattered more than interpretability here, K-Means would be the pick instead.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Customer Segments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on original (unscaled) feature values for business interpretability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210312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2103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Independent Spenders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customers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6220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$1190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6220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5572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5572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5120640" cy="210312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109728" cy="21031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Multi-Channel Couples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 customers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4860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$1237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4860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42120" y="30175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42120" y="34747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120640" cy="210312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09728" cy="2103120"/>
          </a:xfrm>
          <a:prstGeom prst="rect">
            <a:avLst/>
          </a:prstGeom>
          <a:solidFill>
            <a:srgbClr val="B86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434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Budget-Conscious Single Parents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 customers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6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6220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6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36220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5572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6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5572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4251960"/>
            <a:ext cx="5120640" cy="210312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109728" cy="21031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4434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Family Shoppers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5508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 customers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5508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4860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84860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42120" y="539496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42120" y="585216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Who Actually Responds?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 by segment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194560"/>
            <a:ext cx="4297680" cy="14630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4.2x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35240" y="2880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response from Premium Independent Spenders than Value Family Shoppers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0920" y="388620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split mainly by income and household structure, not spend alone. The two highest-income segments spend similarly (~$1,200), but the one living alone (no kids) responds twice as often as the partnered one — and four times as often as the lowest-income segments.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" cy="10515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099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Independent Spenders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63440" y="17099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for premium launches and full-price campaigns — the clear best ROI segment.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10515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91440" cy="10515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8986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Multi-Channel Couples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289864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with family and bundle offers through catalog and store — their preferred channels.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10515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91440" cy="1051560"/>
          </a:xfrm>
          <a:prstGeom prst="rect">
            <a:avLst/>
          </a:prstGeom>
          <a:solidFill>
            <a:srgbClr val="B86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087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Budget-Conscious Single Parents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40873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high web traffic with deal-driven messaging; price and convenience win here.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91440" cy="105156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5276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Family Shoppers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52760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responder — cut campaign frequency and lead with coupons over premium pushes.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1148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39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068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20440" cy="41148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520440" cy="640080"/>
          </a:xfrm>
          <a:prstGeom prst="rect">
            <a:avLst/>
          </a:prstGeom>
          <a:solidFill>
            <a:srgbClr val="B86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172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739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520440" cy="411480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520440" cy="6400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72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739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3068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873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KneeLocator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Customer Segmentation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502920" cy="502920"/>
          </a:xfrm>
          <a:prstGeom prst="ellipse">
            <a:avLst/>
          </a:prstGeom>
          <a:solidFill>
            <a:srgbClr val="8291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9784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18704" y="1709928"/>
            <a:ext cx="365760" cy="365760"/>
          </a:xfrm>
          <a:prstGeom prst="ellipse">
            <a:avLst/>
          </a:prstGeom>
          <a:solidFill>
            <a:srgbClr val="B86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32520" y="402336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turned raw transactional data into four validated, business-ready customer personas — using multiple algorithms, quantitative evaluation, and a dendrogram-backed decision, not a single default pipeline.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29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transformed 2,240 rows of raw data into 4 distinct, actionable customer segments using PCA and clustering — empowering marketing teams to increase engagement, optimize resource allocation, and drive revenue.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Microsoft Office PowerPoint</Application>
  <PresentationFormat>Widescreen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hk821064</cp:lastModifiedBy>
  <cp:revision>2</cp:revision>
  <dcterms:created xsi:type="dcterms:W3CDTF">2026-07-13T20:55:02Z</dcterms:created>
  <dcterms:modified xsi:type="dcterms:W3CDTF">2026-07-14T01:09:59Z</dcterms:modified>
</cp:coreProperties>
</file>